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Garamond"/>
      <p:regular r:id="rId14"/>
      <p:bold r:id="rId15"/>
      <p:italic r:id="rId16"/>
      <p:boldItalic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aramond-bold.fntdata"/><Relationship Id="rId14" Type="http://schemas.openxmlformats.org/officeDocument/2006/relationships/font" Target="fonts/Garamond-regular.fntdata"/><Relationship Id="rId17" Type="http://schemas.openxmlformats.org/officeDocument/2006/relationships/font" Target="fonts/Garamond-boldItalic.fntdata"/><Relationship Id="rId16" Type="http://schemas.openxmlformats.org/officeDocument/2006/relationships/font" Target="fonts/Garamond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swal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3dc2ccace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f3dc2ccace_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5370cd5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f5370cd5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3dc2ccace_1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3" name="Google Shape;153;g2f3dc2ccace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2f3dc2ccace_1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3dc2ccace_1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g2f3dc2ccace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2f3dc2ccace_1_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3dc2ccace_1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g2f3dc2ccace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2f3dc2ccace_1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cdfee46f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6" name="Google Shape;236;g2fcdfee46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2fcdfee46fc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3dc2ccace_1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8" name="Google Shape;248;g2f3dc2ccace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2f3dc2ccace_1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j.gov.in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2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15" Type="http://schemas.openxmlformats.org/officeDocument/2006/relationships/image" Target="../media/image23.png"/><Relationship Id="rId14" Type="http://schemas.openxmlformats.org/officeDocument/2006/relationships/image" Target="../media/image20.png"/><Relationship Id="rId17" Type="http://schemas.openxmlformats.org/officeDocument/2006/relationships/image" Target="../media/image27.png"/><Relationship Id="rId16" Type="http://schemas.openxmlformats.org/officeDocument/2006/relationships/image" Target="../media/image14.png"/><Relationship Id="rId5" Type="http://schemas.openxmlformats.org/officeDocument/2006/relationships/image" Target="../media/image3.png"/><Relationship Id="rId19" Type="http://schemas.openxmlformats.org/officeDocument/2006/relationships/image" Target="../media/image31.png"/><Relationship Id="rId6" Type="http://schemas.openxmlformats.org/officeDocument/2006/relationships/image" Target="../media/image22.png"/><Relationship Id="rId18" Type="http://schemas.openxmlformats.org/officeDocument/2006/relationships/image" Target="../media/image2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colab.research.google.com/drive/1wcm07m2cw8J4C_HyfodnmNvoSsKC_jYR#scrollTo=wqj5IUCqH2YZ" TargetMode="External"/><Relationship Id="rId10" Type="http://schemas.openxmlformats.org/officeDocument/2006/relationships/hyperlink" Target="https://www.crummy.com/software/BeautifulSoup/bs4/doc/" TargetMode="External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j.gov.in/" TargetMode="External"/><Relationship Id="rId4" Type="http://schemas.openxmlformats.org/officeDocument/2006/relationships/hyperlink" Target="https://dashboard.doj.gov.in/" TargetMode="External"/><Relationship Id="rId9" Type="http://schemas.openxmlformats.org/officeDocument/2006/relationships/hyperlink" Target="https://huggingface.co/models?pipeline_tag=text-generation" TargetMode="External"/><Relationship Id="rId5" Type="http://schemas.openxmlformats.org/officeDocument/2006/relationships/hyperlink" Target="https://services.ecourts.gov.in/ecourtindia_v6/" TargetMode="External"/><Relationship Id="rId6" Type="http://schemas.openxmlformats.org/officeDocument/2006/relationships/hyperlink" Target="https://research.ibm.com/blog/retrieval-augmented-generation-RAG" TargetMode="External"/><Relationship Id="rId7" Type="http://schemas.openxmlformats.org/officeDocument/2006/relationships/hyperlink" Target="https://www.langchain.com/" TargetMode="External"/><Relationship Id="rId8" Type="http://schemas.openxmlformats.org/officeDocument/2006/relationships/hyperlink" Target="https://python.langchain.com/v0.2/docs/integrations/vectorstores/fais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548260" y="638628"/>
            <a:ext cx="3478953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436143" y="150406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type="ctrTitle"/>
          </p:nvPr>
        </p:nvSpPr>
        <p:spPr>
          <a:xfrm>
            <a:off x="248464" y="-395068"/>
            <a:ext cx="77724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2024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248475" y="987650"/>
            <a:ext cx="56721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SIH1700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GB">
                <a:solidFill>
                  <a:srgbClr val="212529"/>
                </a:solidFill>
                <a:highlight>
                  <a:srgbClr val="FFFFFF"/>
                </a:highlight>
              </a:rPr>
              <a:t>Developing an AI based interactive Chatbot or virtual assistant for the Department of Justice’s Website.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Smart Automation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b="1">
              <a:solidFill>
                <a:schemeClr val="dk1"/>
              </a:solidFill>
            </a:endParaRPr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r>
              <a:rPr b="1" lang="en-GB">
                <a:solidFill>
                  <a:schemeClr val="dk1"/>
                </a:solidFill>
              </a:rPr>
              <a:t>AI08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GB">
                <a:solidFill>
                  <a:schemeClr val="dk1"/>
                </a:solidFill>
              </a:rPr>
              <a:t>- AI Elites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505" y="0"/>
            <a:ext cx="1684931" cy="861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223100" y="-153100"/>
            <a:ext cx="90828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704375" y="932900"/>
            <a:ext cx="7575900" cy="242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marR="48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Department of Justice (DoJ)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has a wide range of information that is not easily accessible.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489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The problem statement addresses the need for an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AI chatbot for the DoJ's website to provide instant access to real-time judiciary-related information.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The chatbot should be able to handle user queries on department of Justice, judge appointments, pending cases, vacancies, case status, and more.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It should improve, enhancing user interactions and expanding capabilities.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The chatbot should efficiently manage large datasets to streamline access to legal information.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959801" y="4305850"/>
            <a:ext cx="1312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Fair Assistance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2885125" y="4305850"/>
            <a:ext cx="1431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 Clarity Simplified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797363" y="4305850"/>
            <a:ext cx="1593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Information Support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7134438" y="4305850"/>
            <a:ext cx="1227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Data Precision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descr="Your startup LOGO" id="145" name="Google Shape;145;p26"/>
          <p:cNvSpPr/>
          <p:nvPr/>
        </p:nvSpPr>
        <p:spPr>
          <a:xfrm>
            <a:off x="106125" y="80300"/>
            <a:ext cx="1123500" cy="52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ELITES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750" y="3444975"/>
            <a:ext cx="860876" cy="86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9262" y="3357146"/>
            <a:ext cx="1024925" cy="1024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3997" y="3434600"/>
            <a:ext cx="871707" cy="8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41599" y="3355451"/>
            <a:ext cx="944600" cy="9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05504" y="0"/>
            <a:ext cx="1684932" cy="86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7"/>
          <p:cNvSpPr txBox="1"/>
          <p:nvPr>
            <p:ph type="title"/>
          </p:nvPr>
        </p:nvSpPr>
        <p:spPr>
          <a:xfrm>
            <a:off x="1241925" y="1475"/>
            <a:ext cx="6399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 EMPOWERING JUSTICE WITH AI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2951925" y="530675"/>
            <a:ext cx="297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0" name="Google Shape;160;p27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704375" y="910825"/>
            <a:ext cx="7559700" cy="2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The chatbot uses </a:t>
            </a:r>
            <a:r>
              <a:rPr b="1" lang="en-GB" sz="1300">
                <a:solidFill>
                  <a:schemeClr val="dk1"/>
                </a:solidFill>
              </a:rPr>
              <a:t>RAG</a:t>
            </a:r>
            <a:r>
              <a:rPr lang="en-GB" sz="1300">
                <a:solidFill>
                  <a:schemeClr val="dk1"/>
                </a:solidFill>
              </a:rPr>
              <a:t> technology and an </a:t>
            </a:r>
            <a:r>
              <a:rPr b="1" lang="en-GB" sz="1300">
                <a:solidFill>
                  <a:schemeClr val="dk1"/>
                </a:solidFill>
              </a:rPr>
              <a:t>LLM</a:t>
            </a:r>
            <a:r>
              <a:rPr lang="en-GB" sz="1300">
                <a:solidFill>
                  <a:schemeClr val="dk1"/>
                </a:solidFill>
              </a:rPr>
              <a:t> to efficiently process and analyze user queries, helping users access DoJ info with ease.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It provides real-time data via </a:t>
            </a:r>
            <a:r>
              <a:rPr b="1" lang="en-GB" sz="1300">
                <a:solidFill>
                  <a:schemeClr val="dk1"/>
                </a:solidFill>
              </a:rPr>
              <a:t>web links</a:t>
            </a:r>
            <a:r>
              <a:rPr lang="en-GB" sz="1300">
                <a:solidFill>
                  <a:schemeClr val="dk1"/>
                </a:solidFill>
              </a:rPr>
              <a:t> or retrieves </a:t>
            </a:r>
            <a:r>
              <a:rPr b="1" lang="en-GB" sz="1300">
                <a:solidFill>
                  <a:schemeClr val="dk1"/>
                </a:solidFill>
              </a:rPr>
              <a:t>static data</a:t>
            </a:r>
            <a:r>
              <a:rPr lang="en-GB" sz="1300">
                <a:solidFill>
                  <a:schemeClr val="dk1"/>
                </a:solidFill>
              </a:rPr>
              <a:t> from Vector database(timely updated) as needed.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What sets our project apart is its use of the RAG model, </a:t>
            </a:r>
            <a:r>
              <a:rPr b="1" lang="en-GB" sz="1300">
                <a:solidFill>
                  <a:schemeClr val="dk1"/>
                </a:solidFill>
              </a:rPr>
              <a:t>merging data</a:t>
            </a:r>
            <a:r>
              <a:rPr lang="en-GB" sz="1300">
                <a:solidFill>
                  <a:schemeClr val="dk1"/>
                </a:solidFill>
              </a:rPr>
              <a:t> </a:t>
            </a:r>
            <a:r>
              <a:rPr b="1" lang="en-GB" sz="1300">
                <a:solidFill>
                  <a:schemeClr val="dk1"/>
                </a:solidFill>
              </a:rPr>
              <a:t>retrieval </a:t>
            </a:r>
            <a:r>
              <a:rPr lang="en-GB" sz="1300">
                <a:solidFill>
                  <a:schemeClr val="dk1"/>
                </a:solidFill>
              </a:rPr>
              <a:t>(from webpages, PDFs, Excels, charts) with language generation to offer </a:t>
            </a:r>
            <a:r>
              <a:rPr b="1" lang="en-GB" sz="1300">
                <a:solidFill>
                  <a:schemeClr val="dk1"/>
                </a:solidFill>
              </a:rPr>
              <a:t>precise</a:t>
            </a:r>
            <a:r>
              <a:rPr lang="en-GB" sz="1300">
                <a:solidFill>
                  <a:schemeClr val="dk1"/>
                </a:solidFill>
              </a:rPr>
              <a:t> and </a:t>
            </a:r>
            <a:r>
              <a:rPr b="1" lang="en-GB" sz="1300">
                <a:solidFill>
                  <a:schemeClr val="dk1"/>
                </a:solidFill>
              </a:rPr>
              <a:t>up-to-date </a:t>
            </a:r>
            <a:r>
              <a:rPr lang="en-GB" sz="1300">
                <a:solidFill>
                  <a:schemeClr val="dk1"/>
                </a:solidFill>
              </a:rPr>
              <a:t>responses.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We also use a FAISS </a:t>
            </a:r>
            <a:r>
              <a:rPr b="1" lang="en-GB" sz="1300">
                <a:solidFill>
                  <a:schemeClr val="dk1"/>
                </a:solidFill>
              </a:rPr>
              <a:t>vector database</a:t>
            </a:r>
            <a:r>
              <a:rPr lang="en-GB" sz="1300">
                <a:solidFill>
                  <a:schemeClr val="dk1"/>
                </a:solidFill>
              </a:rPr>
              <a:t> for fast, accurate searches, even for complex queries.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2951913" y="4193075"/>
            <a:ext cx="113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 Smart Retrieval</a:t>
            </a:r>
            <a:endParaRPr b="1" sz="900"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788" y="3514050"/>
            <a:ext cx="672026" cy="67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625" y="3718788"/>
            <a:ext cx="535708" cy="4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4600" y="3718788"/>
            <a:ext cx="535708" cy="4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275" y="3718788"/>
            <a:ext cx="535708" cy="4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6050" y="3514048"/>
            <a:ext cx="672026" cy="672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1113775" y="4193075"/>
            <a:ext cx="105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User Prompt</a:t>
            </a:r>
            <a:endParaRPr b="1" sz="900"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7325" y="3432025"/>
            <a:ext cx="825956" cy="7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/>
        </p:nvSpPr>
        <p:spPr>
          <a:xfrm>
            <a:off x="4878375" y="4186075"/>
            <a:ext cx="11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 Large Language Model</a:t>
            </a:r>
            <a:endParaRPr b="1" sz="900"/>
          </a:p>
        </p:txBody>
      </p:sp>
      <p:sp>
        <p:nvSpPr>
          <p:cNvPr id="171" name="Google Shape;171;p27"/>
          <p:cNvSpPr txBox="1"/>
          <p:nvPr/>
        </p:nvSpPr>
        <p:spPr>
          <a:xfrm>
            <a:off x="6990713" y="4193075"/>
            <a:ext cx="113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Response</a:t>
            </a:r>
            <a:endParaRPr b="1" sz="900"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2600" y="3590250"/>
            <a:ext cx="672026" cy="67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05504" y="0"/>
            <a:ext cx="1684932" cy="86180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74" name="Google Shape;174;p27"/>
          <p:cNvSpPr/>
          <p:nvPr/>
        </p:nvSpPr>
        <p:spPr>
          <a:xfrm>
            <a:off x="106125" y="80300"/>
            <a:ext cx="1123500" cy="52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ELITES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/>
          <p:nvPr/>
        </p:nvSpPr>
        <p:spPr>
          <a:xfrm>
            <a:off x="5241775" y="885325"/>
            <a:ext cx="3796200" cy="3784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5305375" y="3902325"/>
            <a:ext cx="3669000" cy="702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5305375" y="1215538"/>
            <a:ext cx="3669000" cy="149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5305375" y="2761200"/>
            <a:ext cx="3669000" cy="106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7" name="Google Shape;187;p28"/>
          <p:cNvSpPr txBox="1"/>
          <p:nvPr>
            <p:ph idx="11" type="ftr"/>
          </p:nvPr>
        </p:nvSpPr>
        <p:spPr>
          <a:xfrm>
            <a:off x="3486150" y="48434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8" name="Google Shape;188;p28"/>
          <p:cNvPicPr preferRelativeResize="0"/>
          <p:nvPr/>
        </p:nvPicPr>
        <p:blipFill rotWithShape="1">
          <a:blip r:embed="rId3">
            <a:alphaModFix/>
          </a:blip>
          <a:srcRect b="32771" l="15114" r="14259" t="25982"/>
          <a:stretch/>
        </p:blipFill>
        <p:spPr>
          <a:xfrm>
            <a:off x="7533737" y="2194513"/>
            <a:ext cx="1178625" cy="3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 rotWithShape="1">
          <a:blip r:embed="rId4">
            <a:alphaModFix/>
          </a:blip>
          <a:srcRect b="0" l="25752" r="24610" t="0"/>
          <a:stretch/>
        </p:blipFill>
        <p:spPr>
          <a:xfrm>
            <a:off x="5498380" y="2077587"/>
            <a:ext cx="503020" cy="6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 rotWithShape="1">
          <a:blip r:embed="rId5">
            <a:alphaModFix/>
          </a:blip>
          <a:srcRect b="0" l="0" r="6873" t="0"/>
          <a:stretch/>
        </p:blipFill>
        <p:spPr>
          <a:xfrm>
            <a:off x="7995925" y="1456288"/>
            <a:ext cx="890450" cy="70222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28"/>
          <p:cNvSpPr/>
          <p:nvPr/>
        </p:nvSpPr>
        <p:spPr>
          <a:xfrm>
            <a:off x="103850" y="883750"/>
            <a:ext cx="5072400" cy="3784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6">
            <a:alphaModFix/>
          </a:blip>
          <a:srcRect b="16863" l="26272" r="27498" t="19215"/>
          <a:stretch/>
        </p:blipFill>
        <p:spPr>
          <a:xfrm>
            <a:off x="6153812" y="1547789"/>
            <a:ext cx="582225" cy="50973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8"/>
          <p:cNvSpPr txBox="1"/>
          <p:nvPr/>
        </p:nvSpPr>
        <p:spPr>
          <a:xfrm>
            <a:off x="247325" y="922850"/>
            <a:ext cx="1370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Workflow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6553200" y="824900"/>
            <a:ext cx="1684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 stacks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9125" y="1573163"/>
            <a:ext cx="633975" cy="45897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8">
            <a:alphaModFix/>
          </a:blip>
          <a:srcRect b="0" l="16129" r="22028" t="0"/>
          <a:stretch/>
        </p:blipFill>
        <p:spPr>
          <a:xfrm>
            <a:off x="6976850" y="4033756"/>
            <a:ext cx="633975" cy="57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6922" y="2250348"/>
            <a:ext cx="990578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 rotWithShape="1">
          <a:blip r:embed="rId10">
            <a:alphaModFix/>
          </a:blip>
          <a:srcRect b="18702" l="11327" r="10451" t="18583"/>
          <a:stretch/>
        </p:blipFill>
        <p:spPr>
          <a:xfrm>
            <a:off x="6213395" y="3397372"/>
            <a:ext cx="633968" cy="4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48187" y="3439953"/>
            <a:ext cx="956200" cy="36150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28"/>
          <p:cNvPicPr preferRelativeResize="0"/>
          <p:nvPr/>
        </p:nvPicPr>
        <p:blipFill rotWithShape="1">
          <a:blip r:embed="rId12">
            <a:alphaModFix/>
          </a:blip>
          <a:srcRect b="17604" l="18902" r="18902" t="17604"/>
          <a:stretch/>
        </p:blipFill>
        <p:spPr>
          <a:xfrm>
            <a:off x="6876738" y="1499950"/>
            <a:ext cx="1037725" cy="6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74361" y="4185736"/>
            <a:ext cx="1167300" cy="295087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28"/>
          <p:cNvSpPr txBox="1"/>
          <p:nvPr/>
        </p:nvSpPr>
        <p:spPr>
          <a:xfrm>
            <a:off x="5290338" y="3811388"/>
            <a:ext cx="95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 u="sng">
                <a:solidFill>
                  <a:schemeClr val="dk1"/>
                </a:solidFill>
              </a:rPr>
              <a:t>Deployment:</a:t>
            </a:r>
            <a:endParaRPr b="1" sz="1000" u="sng">
              <a:solidFill>
                <a:schemeClr val="dk1"/>
              </a:solidFill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14">
            <a:alphaModFix/>
          </a:blip>
          <a:srcRect b="5345" l="29123" r="30026" t="16737"/>
          <a:stretch/>
        </p:blipFill>
        <p:spPr>
          <a:xfrm>
            <a:off x="7996450" y="4015100"/>
            <a:ext cx="503025" cy="53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447850" y="3070088"/>
            <a:ext cx="1037700" cy="277996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28"/>
          <p:cNvSpPr txBox="1"/>
          <p:nvPr/>
        </p:nvSpPr>
        <p:spPr>
          <a:xfrm>
            <a:off x="5307556" y="1189050"/>
            <a:ext cx="143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 u="sng">
                <a:solidFill>
                  <a:schemeClr val="dk1"/>
                </a:solidFill>
              </a:rPr>
              <a:t>Model Development:</a:t>
            </a:r>
            <a:endParaRPr b="1" sz="1000" u="sng">
              <a:solidFill>
                <a:schemeClr val="dk1"/>
              </a:solidFill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405504" y="0"/>
            <a:ext cx="1684932" cy="8618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/>
          <p:nvPr/>
        </p:nvSpPr>
        <p:spPr>
          <a:xfrm>
            <a:off x="5137949" y="2725775"/>
            <a:ext cx="16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 u="sng">
                <a:solidFill>
                  <a:schemeClr val="dk1"/>
                </a:solidFill>
              </a:rPr>
              <a:t>Web T</a:t>
            </a:r>
            <a:r>
              <a:rPr b="1" lang="en-GB" sz="1000" u="sng">
                <a:solidFill>
                  <a:schemeClr val="dk1"/>
                </a:solidFill>
              </a:rPr>
              <a:t>echnologies:</a:t>
            </a:r>
            <a:endParaRPr b="1" sz="1000" u="sng">
              <a:solidFill>
                <a:schemeClr val="dk1"/>
              </a:solidFill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17">
            <a:alphaModFix/>
          </a:blip>
          <a:srcRect b="16849" l="0" r="0" t="13783"/>
          <a:stretch/>
        </p:blipFill>
        <p:spPr>
          <a:xfrm>
            <a:off x="7873500" y="2961662"/>
            <a:ext cx="1045128" cy="45897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28"/>
          <p:cNvPicPr preferRelativeResize="0"/>
          <p:nvPr/>
        </p:nvPicPr>
        <p:blipFill rotWithShape="1">
          <a:blip r:embed="rId18">
            <a:alphaModFix/>
          </a:blip>
          <a:srcRect b="29869" l="8081" r="8090" t="27042"/>
          <a:stretch/>
        </p:blipFill>
        <p:spPr>
          <a:xfrm>
            <a:off x="6650750" y="3031175"/>
            <a:ext cx="1150525" cy="31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 rotWithShape="1">
          <a:blip r:embed="rId19">
            <a:alphaModFix/>
          </a:blip>
          <a:srcRect b="1502" l="4415" r="2640" t="4034"/>
          <a:stretch/>
        </p:blipFill>
        <p:spPr>
          <a:xfrm>
            <a:off x="159350" y="901775"/>
            <a:ext cx="4961401" cy="37842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211" name="Google Shape;211;p28"/>
          <p:cNvSpPr/>
          <p:nvPr/>
        </p:nvSpPr>
        <p:spPr>
          <a:xfrm>
            <a:off x="106125" y="80300"/>
            <a:ext cx="1123500" cy="52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ELITES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728925" y="1161275"/>
            <a:ext cx="75597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The chatbot automatically corrects mistakes in the prompt and provides </a:t>
            </a:r>
            <a:r>
              <a:rPr b="1" lang="en-GB" sz="1300"/>
              <a:t>relevant information</a:t>
            </a:r>
            <a:r>
              <a:rPr lang="en-GB" sz="1300"/>
              <a:t> seamlessly.</a:t>
            </a:r>
            <a:endParaRPr sz="1300"/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Efficient vector search with </a:t>
            </a:r>
            <a:r>
              <a:rPr b="1" lang="en-GB" sz="1300"/>
              <a:t>FAISS </a:t>
            </a:r>
            <a:r>
              <a:rPr lang="en-GB" sz="1300"/>
              <a:t>makes it feasible to quickly process and retrieve relevant information from large judicial data sets in real time.</a:t>
            </a:r>
            <a:endParaRPr sz="1300"/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Interactive features like </a:t>
            </a:r>
            <a:r>
              <a:rPr b="1" lang="en-GB" sz="1300"/>
              <a:t>live streaming of court cases</a:t>
            </a:r>
            <a:r>
              <a:rPr lang="en-GB" sz="1300"/>
              <a:t> and enhance the system's usefulness.</a:t>
            </a:r>
            <a:endParaRPr sz="1300"/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The AI Chatbot maintains </a:t>
            </a:r>
            <a:r>
              <a:rPr b="1" lang="en-GB" sz="1300">
                <a:solidFill>
                  <a:schemeClr val="dk1"/>
                </a:solidFill>
              </a:rPr>
              <a:t>freshness of data</a:t>
            </a:r>
            <a:r>
              <a:rPr lang="en-GB" sz="1300">
                <a:solidFill>
                  <a:schemeClr val="dk1"/>
                </a:solidFill>
              </a:rPr>
              <a:t>, ensuring that information is always up-to-date and accurate</a:t>
            </a:r>
            <a:endParaRPr sz="13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1" name="Google Shape;221;p29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3145563" y="4325375"/>
            <a:ext cx="91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sp>
        <p:nvSpPr>
          <p:cNvPr id="223" name="Google Shape;223;p29"/>
          <p:cNvSpPr txBox="1"/>
          <p:nvPr/>
        </p:nvSpPr>
        <p:spPr>
          <a:xfrm>
            <a:off x="2804100" y="4230850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Instant Info</a:t>
            </a:r>
            <a:endParaRPr b="1" sz="1200"/>
          </a:p>
        </p:txBody>
      </p:sp>
      <p:sp>
        <p:nvSpPr>
          <p:cNvPr id="224" name="Google Shape;224;p29"/>
          <p:cNvSpPr txBox="1"/>
          <p:nvPr/>
        </p:nvSpPr>
        <p:spPr>
          <a:xfrm>
            <a:off x="4419588" y="4230850"/>
            <a:ext cx="17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Live streaming</a:t>
            </a:r>
            <a:endParaRPr sz="1200"/>
          </a:p>
        </p:txBody>
      </p:sp>
      <p:sp>
        <p:nvSpPr>
          <p:cNvPr id="225" name="Google Shape;225;p29"/>
          <p:cNvSpPr txBox="1"/>
          <p:nvPr/>
        </p:nvSpPr>
        <p:spPr>
          <a:xfrm>
            <a:off x="6561525" y="4171475"/>
            <a:ext cx="16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Data freshness </a:t>
            </a:r>
            <a:endParaRPr b="1" sz="1200"/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325" y="3274187"/>
            <a:ext cx="1119150" cy="11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4675" y="3476800"/>
            <a:ext cx="713925" cy="71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5225" y="3405075"/>
            <a:ext cx="85740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-596554" y="4230850"/>
            <a:ext cx="11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29"/>
          <p:cNvSpPr txBox="1"/>
          <p:nvPr/>
        </p:nvSpPr>
        <p:spPr>
          <a:xfrm>
            <a:off x="1003650" y="4230850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Error Correction</a:t>
            </a:r>
            <a:endParaRPr b="1" sz="1200"/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2750" y="3405063"/>
            <a:ext cx="8574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05504" y="0"/>
            <a:ext cx="1684932" cy="86180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233" name="Google Shape;233;p29"/>
          <p:cNvSpPr/>
          <p:nvPr/>
        </p:nvSpPr>
        <p:spPr>
          <a:xfrm>
            <a:off x="106125" y="80300"/>
            <a:ext cx="1123500" cy="52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ELITES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8175"/>
            <a:ext cx="9143999" cy="40236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>
            <p:ph type="title"/>
          </p:nvPr>
        </p:nvSpPr>
        <p:spPr>
          <a:xfrm>
            <a:off x="2906250" y="36750"/>
            <a:ext cx="31791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600"/>
          </a:p>
        </p:txBody>
      </p:sp>
      <p:sp>
        <p:nvSpPr>
          <p:cNvPr id="241" name="Google Shape;241;p30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6553200" y="48434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3" name="Google Shape;243;p30"/>
          <p:cNvSpPr txBox="1"/>
          <p:nvPr>
            <p:ph idx="11" type="ftr"/>
          </p:nvPr>
        </p:nvSpPr>
        <p:spPr>
          <a:xfrm>
            <a:off x="3478300" y="481781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44" name="Google Shape;244;p30"/>
          <p:cNvSpPr/>
          <p:nvPr/>
        </p:nvSpPr>
        <p:spPr>
          <a:xfrm>
            <a:off x="106125" y="80300"/>
            <a:ext cx="1123500" cy="52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ELITES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504" y="0"/>
            <a:ext cx="1684932" cy="86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106125" y="1085150"/>
            <a:ext cx="91440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GB" sz="2000"/>
              <a:t>DoJ:</a:t>
            </a:r>
            <a:r>
              <a:rPr lang="en-GB" sz="1600"/>
              <a:t> </a:t>
            </a:r>
            <a:r>
              <a:rPr lang="en-GB" sz="1500" u="sng">
                <a:solidFill>
                  <a:schemeClr val="hlink"/>
                </a:solidFill>
                <a:hlinkClick r:id="rId3"/>
              </a:rPr>
              <a:t>https://doj.gov.in/</a:t>
            </a:r>
            <a:endParaRPr sz="1500"/>
          </a:p>
          <a:p>
            <a:pPr indent="-2413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DoJ Dashboard: </a:t>
            </a:r>
            <a:r>
              <a:rPr lang="en-GB" sz="1500" u="sng">
                <a:solidFill>
                  <a:schemeClr val="hlink"/>
                </a:solidFill>
                <a:hlinkClick r:id="rId4"/>
              </a:rPr>
              <a:t>https://dashboard.doj.gov.in/</a:t>
            </a:r>
            <a:endParaRPr sz="1500"/>
          </a:p>
          <a:p>
            <a:pPr indent="-241300" lvl="0" marL="254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</a:rPr>
              <a:t>e-Courts: </a:t>
            </a:r>
            <a:r>
              <a:rPr lang="en-GB" sz="1500" u="sng">
                <a:solidFill>
                  <a:schemeClr val="hlink"/>
                </a:solidFill>
                <a:hlinkClick r:id="rId5"/>
              </a:rPr>
              <a:t>https://services.ecourts.gov.in/ecourtindia_v6/</a:t>
            </a:r>
            <a:endParaRPr sz="1500">
              <a:solidFill>
                <a:schemeClr val="dk1"/>
              </a:solidFill>
            </a:endParaRPr>
          </a:p>
          <a:p>
            <a:pPr indent="-241300" lvl="0" marL="254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</a:rPr>
              <a:t>Supreme Court &amp; High Court Websites</a:t>
            </a:r>
            <a:endParaRPr sz="1500">
              <a:solidFill>
                <a:schemeClr val="dk1"/>
              </a:solidFill>
            </a:endParaRPr>
          </a:p>
          <a:p>
            <a:pPr indent="-24765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GB" sz="2000"/>
              <a:t>RAG:</a:t>
            </a:r>
            <a:r>
              <a:rPr lang="en-GB" sz="1500"/>
              <a:t> </a:t>
            </a:r>
            <a:r>
              <a:rPr lang="en-GB" sz="1500" u="sng">
                <a:solidFill>
                  <a:schemeClr val="hlink"/>
                </a:solidFill>
                <a:hlinkClick r:id="rId6"/>
              </a:rPr>
              <a:t>https://research.ibm.com/blog/retrieval-augmented-generation-RAG</a:t>
            </a:r>
            <a:endParaRPr sz="1500"/>
          </a:p>
          <a:p>
            <a:pPr indent="-23495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2000">
                <a:solidFill>
                  <a:schemeClr val="dk1"/>
                </a:solidFill>
              </a:rPr>
              <a:t>Langchain:</a:t>
            </a:r>
            <a:r>
              <a:rPr lang="en-GB" sz="1600"/>
              <a:t> </a:t>
            </a:r>
            <a:r>
              <a:rPr lang="en-GB" sz="1500" u="sng">
                <a:solidFill>
                  <a:schemeClr val="hlink"/>
                </a:solidFill>
                <a:hlinkClick r:id="rId7"/>
              </a:rPr>
              <a:t>https://www.langchain.com/</a:t>
            </a:r>
            <a:endParaRPr sz="1500"/>
          </a:p>
          <a:p>
            <a:pPr indent="-2286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FAISS:</a:t>
            </a:r>
            <a:r>
              <a:rPr lang="en-GB" sz="1700"/>
              <a:t> </a:t>
            </a:r>
            <a:r>
              <a:rPr lang="en-GB" sz="1500" u="sng">
                <a:solidFill>
                  <a:schemeClr val="hlink"/>
                </a:solidFill>
                <a:hlinkClick r:id="rId8"/>
              </a:rPr>
              <a:t>https://python.langchain.com/v0.2/docs/integrations/vectorstores/faiss/</a:t>
            </a:r>
            <a:endParaRPr sz="1500"/>
          </a:p>
          <a:p>
            <a:pPr indent="-2286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Text Gen. Bot: </a:t>
            </a:r>
            <a:r>
              <a:rPr lang="en-GB" sz="1500" u="sng">
                <a:solidFill>
                  <a:schemeClr val="hlink"/>
                </a:solidFill>
                <a:hlinkClick r:id="rId9"/>
              </a:rPr>
              <a:t>https://huggingface.co/models?pipeline_tag=text-generation</a:t>
            </a:r>
            <a:endParaRPr sz="1500"/>
          </a:p>
          <a:p>
            <a:pPr indent="-2286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Beautifulsoup: </a:t>
            </a:r>
            <a:r>
              <a:rPr lang="en-GB" sz="1500" u="sng">
                <a:solidFill>
                  <a:schemeClr val="hlink"/>
                </a:solidFill>
                <a:hlinkClick r:id="rId10"/>
              </a:rPr>
              <a:t>https://www.crummy.com/software/BeautifulSoup/bs4/doc/</a:t>
            </a:r>
            <a:endParaRPr sz="1500"/>
          </a:p>
          <a:p>
            <a:pPr indent="-23495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800">
                <a:solidFill>
                  <a:schemeClr val="dk1"/>
                </a:solidFill>
              </a:rPr>
              <a:t>Model:</a:t>
            </a:r>
            <a:r>
              <a:rPr lang="en-GB" sz="1800"/>
              <a:t> </a:t>
            </a:r>
            <a:r>
              <a:rPr lang="en-GB" sz="1200" u="sng">
                <a:solidFill>
                  <a:schemeClr val="hlink"/>
                </a:solidFill>
                <a:hlinkClick r:id="rId11"/>
              </a:rPr>
              <a:t>https://colab.research.google.com/drive/1wcm07m2cw8J4C_HyfodnmNvoSsKC_jYR#scrollTo=wqj5IUCqH2YZ</a:t>
            </a:r>
            <a:endParaRPr sz="1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54" name="Google Shape;254;p3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5" name="Google Shape;255;p31"/>
          <p:cNvSpPr txBox="1"/>
          <p:nvPr>
            <p:ph idx="11" type="ftr"/>
          </p:nvPr>
        </p:nvSpPr>
        <p:spPr>
          <a:xfrm>
            <a:off x="3486150" y="48434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6" name="Google Shape;256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05504" y="0"/>
            <a:ext cx="1684932" cy="86180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257" name="Google Shape;257;p31"/>
          <p:cNvSpPr/>
          <p:nvPr/>
        </p:nvSpPr>
        <p:spPr>
          <a:xfrm>
            <a:off x="106125" y="80300"/>
            <a:ext cx="1123500" cy="521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ELITES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